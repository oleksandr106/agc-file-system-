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6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95500" y="2493764"/>
            <a:ext cx="8001000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5250" i="0" u="none">
                <a:solidFill>
                  <a:srgbClr val="5C1A2B"/>
                </a:solidFill>
                <a:latin typeface="Fraunces SemiBold"/>
              </a:rPr>
              <a:t>Rozbor kódu webu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503414"/>
            <a:ext cx="7620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4A362B"/>
                </a:solidFill>
                <a:latin typeface="Work Sans"/>
              </a:rPr>
              <a:t>Technická a vizuální analýza prezentační stránky rodinného vinařství U Kamenné brány. Pohled pod pokličku HTML, CSS a celkové logiky.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6D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819275"/>
            <a:ext cx="528637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1819275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A362B"/>
                </a:solidFill>
                <a:latin typeface="Work Sans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625" y="1819275"/>
            <a:ext cx="5048250" cy="609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362B"/>
                </a:solidFill>
                <a:latin typeface="Work Sans"/>
              </a:rPr>
              <a:t>Účel webu:</a:t>
            </a:r>
            <a:r>
              <a:rPr b="0" sz="1500" i="0" u="none">
                <a:solidFill>
                  <a:srgbClr val="4A362B"/>
                </a:solidFill>
                <a:latin typeface="Work Sans"/>
              </a:rPr>
              <a:t> Reprezentativní jednostránkový web (one-pager) pro rodinné vinařství z Pavlova.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2571750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A362B"/>
                </a:solidFill>
                <a:latin typeface="Work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571750"/>
            <a:ext cx="5048250" cy="609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362B"/>
                </a:solidFill>
                <a:latin typeface="Work Sans"/>
              </a:rPr>
              <a:t>Hlavní cíle:</a:t>
            </a:r>
            <a:r>
              <a:rPr b="0" sz="1500" i="0" u="none">
                <a:solidFill>
                  <a:srgbClr val="4A362B"/>
                </a:solidFill>
                <a:latin typeface="Work Sans"/>
              </a:rPr>
              <a:t> Představit příběh rodiny a unikátních sklepů.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324225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A362B"/>
                </a:solidFill>
                <a:latin typeface="Work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324225"/>
            <a:ext cx="5048250" cy="609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362B"/>
                </a:solidFill>
                <a:latin typeface="Work Sans"/>
              </a:rPr>
              <a:t>Funkční prvky:</a:t>
            </a:r>
            <a:r>
              <a:rPr b="0" sz="1500" i="0" u="none">
                <a:solidFill>
                  <a:srgbClr val="4A362B"/>
                </a:solidFill>
                <a:latin typeface="Work Sans"/>
              </a:rPr>
              <a:t> Navigace sekcemi (galerie, nabídka, kontakt).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076700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A362B"/>
                </a:solidFill>
                <a:latin typeface="Work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076700"/>
            <a:ext cx="5048250" cy="6096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362B"/>
                </a:solidFill>
                <a:latin typeface="Work Sans"/>
              </a:rPr>
              <a:t>Konverze:</a:t>
            </a:r>
            <a:r>
              <a:rPr b="0" sz="1500" i="0" u="none">
                <a:solidFill>
                  <a:srgbClr val="4A362B"/>
                </a:solidFill>
                <a:latin typeface="Work Sans"/>
              </a:rPr>
              <a:t> Umožnit zákazníkům objednat víno a zarezervovat si termín řízené degustace.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4829175"/>
            <a:ext cx="857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A362B"/>
                </a:solidFill>
                <a:latin typeface="Work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829175"/>
            <a:ext cx="5048250" cy="91440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362B"/>
                </a:solidFill>
                <a:latin typeface="Work Sans"/>
              </a:rPr>
              <a:t>Atmosféra:</a:t>
            </a:r>
            <a:r>
              <a:rPr b="0" sz="1500" i="0" u="none">
                <a:solidFill>
                  <a:srgbClr val="4A362B"/>
                </a:solidFill>
                <a:latin typeface="Work Sans"/>
              </a:rPr>
              <a:t> Důraz na tradici, ruční sběr a vápencové podloží Pálavy, což se odráží i ve vizuálu (pískové a vínové barvy).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19275"/>
            <a:ext cx="5286375" cy="381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5C1A2B"/>
                </a:solidFill>
                <a:latin typeface="Fraunces SemiBold"/>
              </a:rPr>
              <a:t>O čem projekt je?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6D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95475"/>
            <a:ext cx="5286375" cy="39147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95475"/>
            <a:ext cx="5286375" cy="3914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421284"/>
            <a:ext cx="473059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5C1A2B"/>
                </a:solidFill>
                <a:latin typeface="Fraunces SemiBold"/>
              </a:rPr>
              <a:t>Logické členění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935634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362B"/>
                </a:solidFill>
                <a:latin typeface="Work Sans"/>
              </a:rPr>
              <a:t>Kód striktně dodržuje sémantické tagy HTML5 pro maximální přístupnost (a11y) a SEO optimalizaci.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627090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362B"/>
                </a:solidFill>
                <a:latin typeface="Work Sans"/>
              </a:rPr>
              <a:t>Stránka je rozdělena na </a:t>
            </a:r>
            <a:r>
              <a:rPr b="0" sz="1350" i="0" u="none">
                <a:solidFill>
                  <a:srgbClr val="4A362B"/>
                </a:solidFill>
                <a:latin typeface="Work Sans"/>
              </a:rPr>
              <a:t> (navigace), </a:t>
            </a:r>
            <a:r>
              <a:rPr b="0" sz="1350" i="0" u="none">
                <a:solidFill>
                  <a:srgbClr val="4A362B"/>
                </a:solidFill>
                <a:latin typeface="Work Sans"/>
              </a:rPr>
              <a:t> (hlavní obsah) a </a:t>
            </a:r>
            <a:r>
              <a:rPr b="0" sz="1350" i="0" u="none">
                <a:solidFill>
                  <a:srgbClr val="4A362B"/>
                </a:solidFill>
                <a:latin typeface="Work Sans"/>
              </a:rPr>
              <a:t> (zápatí).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318545"/>
            <a:ext cx="450532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362B"/>
                </a:solidFill>
                <a:latin typeface="Work Sans"/>
              </a:rPr>
              <a:t>Jednotlivé bloky jsou obaleny tagem </a:t>
            </a:r>
            <a:r>
              <a:rPr b="0" sz="1350" i="0" u="none">
                <a:solidFill>
                  <a:srgbClr val="4A362B"/>
                </a:solidFill>
                <a:latin typeface="Work Sans"/>
              </a:rPr>
              <a:t>, což vyhledávačům usnadňuje pochopení struktury dokumentu.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4125" y="58102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5C1A2B"/>
                </a:solidFill>
                <a:latin typeface="Fraunces SemiBold"/>
              </a:rPr>
              <a:t>Sémantické HTML5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6D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93689"/>
            <a:ext cx="5286375" cy="391834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93689"/>
            <a:ext cx="5286375" cy="39183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284214"/>
            <a:ext cx="473059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5C1A2B"/>
                </a:solidFill>
                <a:latin typeface="Fraunces SemiBold"/>
              </a:rPr>
              <a:t>Design tokeny (Proměnné)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798564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362B"/>
                </a:solidFill>
                <a:latin typeface="Work Sans"/>
              </a:rPr>
              <a:t>Stylopis využívá pseudo-třídu </a:t>
            </a:r>
            <a:r>
              <a:rPr b="1" sz="1350" i="0" u="none">
                <a:solidFill>
                  <a:srgbClr val="4A362B"/>
                </a:solidFill>
                <a:latin typeface="Work Sans"/>
              </a:rPr>
              <a:t>:root</a:t>
            </a:r>
            <a:r>
              <a:rPr b="0" sz="1350" i="0" u="none">
                <a:solidFill>
                  <a:srgbClr val="4A362B"/>
                </a:solidFill>
                <a:latin typeface="Work Sans"/>
              </a:rPr>
              <a:t> k definici globálních CSS proměnných (custom properties).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490019"/>
            <a:ext cx="450532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362B"/>
                </a:solidFill>
                <a:latin typeface="Work Sans"/>
              </a:rPr>
              <a:t>Barvy (ink, burgundy, limestone) a fonty (Fraunces, Work Sans) jsou uloženy na jednom místě. To zajišťuje absolutní vizuální konzistenci napříč všemi sekcemi.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730055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362B"/>
                </a:solidFill>
                <a:latin typeface="Work Sans"/>
              </a:rPr>
              <a:t>Změna barvy značky tak vyžaduje úpravu pouze jednoho řádku v celém kódu.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4125" y="581203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5C1A2B"/>
                </a:solidFill>
                <a:latin typeface="Fraunces SemiBold"/>
              </a:rPr>
              <a:t>Architektura CSS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6D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81175"/>
            <a:ext cx="5286375" cy="41433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781175"/>
            <a:ext cx="5286375" cy="414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284214"/>
            <a:ext cx="473059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5C1A2B"/>
                </a:solidFill>
                <a:latin typeface="Fraunces SemiBold"/>
              </a:rPr>
              <a:t>Moderní rozvržení prvků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798564"/>
            <a:ext cx="450532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362B"/>
                </a:solidFill>
                <a:latin typeface="Work Sans"/>
              </a:rPr>
              <a:t>Web intenzivně využívá </a:t>
            </a:r>
            <a:r>
              <a:rPr b="1" sz="1350" i="0" u="none">
                <a:solidFill>
                  <a:srgbClr val="4A362B"/>
                </a:solidFill>
                <a:latin typeface="Work Sans"/>
              </a:rPr>
              <a:t>CSS Grid</a:t>
            </a:r>
            <a:r>
              <a:rPr b="0" sz="1350" i="0" u="none">
                <a:solidFill>
                  <a:srgbClr val="4A362B"/>
                </a:solidFill>
                <a:latin typeface="Work Sans"/>
              </a:rPr>
              <a:t> pro složitější rozložení, jako je sekce "O nás", seznam vín nebo fotogalerie.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764309"/>
            <a:ext cx="450532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362B"/>
                </a:solidFill>
                <a:latin typeface="Work Sans"/>
              </a:rPr>
              <a:t>V galerii pomocí </a:t>
            </a:r>
            <a:r>
              <a:rPr b="0" sz="1350" i="0" u="none">
                <a:solidFill>
                  <a:srgbClr val="4A362B"/>
                </a:solidFill>
                <a:latin typeface="Work Sans"/>
              </a:rPr>
              <a:t>grid-template-columns: repeat(3, 1fr)</a:t>
            </a:r>
            <a:r>
              <a:rPr b="0" sz="1350" i="0" u="none">
                <a:solidFill>
                  <a:srgbClr val="4A362B"/>
                </a:solidFill>
                <a:latin typeface="Work Sans"/>
              </a:rPr>
              <a:t> vzniká přesná mřížka. Fotografie se přizpůsobují oříznutím (</a:t>
            </a:r>
            <a:r>
              <a:rPr b="0" sz="1350" i="0" u="none">
                <a:solidFill>
                  <a:srgbClr val="4A362B"/>
                </a:solidFill>
                <a:latin typeface="Work Sans"/>
              </a:rPr>
              <a:t>object-fit: cover</a:t>
            </a:r>
            <a:r>
              <a:rPr b="0" sz="1350" i="0" u="none">
                <a:solidFill>
                  <a:srgbClr val="4A362B"/>
                </a:solidFill>
                <a:latin typeface="Work Sans"/>
              </a:rPr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730055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362B"/>
                </a:solidFill>
                <a:latin typeface="Work Sans"/>
              </a:rPr>
              <a:t>Při zmenšení okna (mobilní zobrazení) se pomocí media queries layout plynule přeskládá.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4125" y="5924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5C1A2B"/>
                </a:solidFill>
                <a:latin typeface="Fraunces SemiBold"/>
              </a:rPr>
              <a:t>Responzivní Grid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6D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56469"/>
            <a:ext cx="5286375" cy="419263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756469"/>
            <a:ext cx="5286375" cy="4192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146994"/>
            <a:ext cx="473059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5C1A2B"/>
                </a:solidFill>
                <a:latin typeface="Fraunces SemiBold"/>
              </a:rPr>
              <a:t>HTML nativní formulář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2661344"/>
            <a:ext cx="450532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362B"/>
                </a:solidFill>
                <a:latin typeface="Work Sans"/>
              </a:rPr>
              <a:t>Stránka neobsahuje složitý backend (PHP/Node.js) pro nákupní košík. Místo toho využívá čistou HTML funkcionalitu </a:t>
            </a:r>
            <a:r>
              <a:rPr b="1" sz="1350" i="0" u="none">
                <a:solidFill>
                  <a:srgbClr val="4A362B"/>
                </a:solidFill>
                <a:latin typeface="Work Sans"/>
              </a:rPr>
              <a:t>mailto:</a:t>
            </a:r>
            <a:r>
              <a:rPr b="0" sz="1350" i="0" u="none">
                <a:solidFill>
                  <a:srgbClr val="4A362B"/>
                </a:solidFill>
                <a:latin typeface="Work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627090"/>
            <a:ext cx="450532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362B"/>
                </a:solidFill>
                <a:latin typeface="Work Sans"/>
              </a:rPr>
              <a:t>U každého vína je vstup </a:t>
            </a:r>
            <a:r>
              <a:rPr b="0" sz="1350" i="0" u="none">
                <a:solidFill>
                  <a:srgbClr val="4A362B"/>
                </a:solidFill>
                <a:latin typeface="Work Sans"/>
              </a:rPr>
              <a:t>type="number"</a:t>
            </a:r>
            <a:r>
              <a:rPr b="0" sz="1350" i="0" u="none">
                <a:solidFill>
                  <a:srgbClr val="4A362B"/>
                </a:solidFill>
                <a:latin typeface="Work Sans"/>
              </a:rPr>
              <a:t> omezující nákup (0-24 ks). Spolu s kontaktními údaji se po kliknutí na tlačítko "Odeslat" otevře e-mailový klient zákazníka s předvyplněnou objednávkou.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867126"/>
            <a:ext cx="45053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A362B"/>
                </a:solidFill>
                <a:latin typeface="Work Sans"/>
              </a:rPr>
              <a:t>Jde o geniálně jednoduché a funkční řešení pro malé firmy.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4125" y="5949106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5C1A2B"/>
                </a:solidFill>
                <a:latin typeface="Fraunces SemiBold"/>
              </a:rPr>
              <a:t>Objednávková logika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6D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5275" y="2191791"/>
            <a:ext cx="1160145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6000" i="0" u="none">
                <a:solidFill>
                  <a:srgbClr val="5C1A2B"/>
                </a:solidFill>
                <a:latin typeface="Fraunces SemiBold"/>
              </a:rPr>
              <a:t>Dotazy?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3315741"/>
            <a:ext cx="11049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4A362B"/>
                </a:solidFill>
                <a:latin typeface="Work Sans"/>
              </a:rPr>
              <a:t>Web elegantně propojuje moderní HTML5/CSS3 standardy</a:t>
            </a:r>
            <a:r>
              <a:t>
</a:t>
            </a:r>
            <a:r>
              <a:rPr b="0" sz="1800" i="0" u="none">
                <a:solidFill>
                  <a:srgbClr val="4A362B"/>
                </a:solidFill>
                <a:latin typeface="Work Sans"/>
              </a:rPr>
              <a:t> s rustikálním designem tradičního vinařství.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428083"/>
            <a:ext cx="110490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A9812F"/>
                </a:solidFill>
                <a:latin typeface="Work Sans Medium"/>
              </a:rPr>
              <a:t>Děkuji za pozornost při technickém rozboru.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